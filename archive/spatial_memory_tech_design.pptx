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4114800" cy="4114800"/>
          </a:xfrm>
          <a:prstGeom prst="ellipse">
            <a:avLst/>
          </a:prstGeom>
          <a:solidFill>
            <a:srgbClr val="063B72"/>
          </a:solidFill>
          <a:ln w="12700">
            <a:solidFill>
              <a:srgbClr val="063B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063B72"/>
          </a:solidFill>
          <a:ln w="12700">
            <a:solidFill>
              <a:srgbClr val="063B7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A7EA4">
              <a:alpha val="20000"/>
            </a:srgbClr>
          </a:solidFill>
          <a:ln w="12700">
            <a:solidFill>
              <a:srgbClr val="0A7EA4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空間メモリー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38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Memory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2029968"/>
            <a:ext cx="4114800" cy="0"/>
          </a:xfrm>
          <a:prstGeom prst="line">
            <a:avLst/>
          </a:prstGeom>
          <a:noFill/>
          <a:ln w="19050">
            <a:solidFill>
              <a:srgbClr val="38B6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945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詳細技術設計書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Technical Design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対象読者 / Audience: </a:t>
            </a:r>
            <a:pPr indent="0" marL="0">
              <a:buNone/>
            </a:pPr>
            <a:r>
              <a:rPr lang="en-US" sz="1300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一般技術者 / General Engineers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5661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言語 / Language: </a:t>
            </a:r>
            <a:pPr indent="0" marL="0">
              <a:buNone/>
            </a:pPr>
            <a:r>
              <a:rPr lang="en-US" sz="1300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日本語 / English 併記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社内技術資料  /  Internal Technical Document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1005840"/>
          </a:xfrm>
          <a:prstGeom prst="rect">
            <a:avLst/>
          </a:prstGeom>
          <a:solidFill>
            <a:srgbClr val="063B72"/>
          </a:solidFill>
          <a:ln w="12700">
            <a:solidFill>
              <a:srgbClr val="063B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457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アジェンダ  /  Agenda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4048" y="5669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本資料の構成 / Document Structure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503920" y="0"/>
            <a:ext cx="640080" cy="100584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188720"/>
            <a:ext cx="384048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05840" y="1188720"/>
            <a:ext cx="502920" cy="7315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18872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00200" y="123444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概要とコンセプト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0200" y="157276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&amp; Concept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120640" y="1188720"/>
            <a:ext cx="384048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120640" y="1188720"/>
            <a:ext cx="502920" cy="7315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118872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15000" y="123444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アドレスメモリー設計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715000" y="157276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Memory Design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05840" y="2103120"/>
            <a:ext cx="384048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005840" y="2103120"/>
            <a:ext cx="502920" cy="7315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210312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00200" y="214884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ANDマッチング機構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600200" y="248716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Matching Mechanism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120640" y="2103120"/>
            <a:ext cx="384048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120640" y="2103120"/>
            <a:ext cx="502920" cy="7315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0" y="210312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715000" y="214884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データメモリー設計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715000" y="248716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Memory Design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05840" y="3017520"/>
            <a:ext cx="384048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005840" y="3017520"/>
            <a:ext cx="502920" cy="7315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301752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600200" y="306324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LSBマスク近傍検索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600200" y="340156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LSB Mask Neighbor Search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120640" y="3017520"/>
            <a:ext cx="384048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120640" y="3017520"/>
            <a:ext cx="502920" cy="7315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301752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715000" y="306324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拡張構成（並列・直列）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715000" y="340156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Configuration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005840" y="3931920"/>
            <a:ext cx="384048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1005840" y="3931920"/>
            <a:ext cx="502920" cy="7315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05840" y="393192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600200" y="397764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ASIC実装方針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600200" y="431596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ASIC Implementation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120640" y="3931920"/>
            <a:ext cx="384048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120640" y="3931920"/>
            <a:ext cx="502920" cy="7315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20640" y="393192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715000" y="397764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C#シミュレーション設計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715000" y="431596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Simulation Design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1005840"/>
          </a:xfrm>
          <a:prstGeom prst="rect">
            <a:avLst/>
          </a:prstGeom>
          <a:solidFill>
            <a:srgbClr val="063B72"/>
          </a:solidFill>
          <a:ln w="12700">
            <a:solidFill>
              <a:srgbClr val="063B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457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01｜概要とコンセプト  /  Overview &amp; Concept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4048" y="5669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空間メモリーとは何か / What is Spatial Memory?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503920" y="0"/>
            <a:ext cx="640080" cy="100584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従来メモリーとの違い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from Conventional Memory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64208"/>
          <a:ext cx="50292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554480"/>
                <a:gridCol w="18288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比較項目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従来 RAM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空間メモリー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44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検索方式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4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アドレス指定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4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(Address-indexed)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A7E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内容一致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A7E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(Content-matched)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44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近傍検索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4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不可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4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(Not possible)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A7E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LSBマスクで可能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A7E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(Via LSB mask)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44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多次元検索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4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不可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4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(Not possible)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A7E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AND並列で可能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A7E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(Parallel AND)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44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書込み管理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4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手動アドレス指定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A7E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カウンター自動管理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A7E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(Auto counter)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577840" y="1143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3つの核心機構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Core Mechanisms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577840" y="1691640"/>
            <a:ext cx="329184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577840" y="1691640"/>
            <a:ext cx="73152" cy="9144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87568" y="1737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ビット並列比較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Bit-parallel comparison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687568" y="2194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全ビットを同時に比較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1クロックで判定完了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577840" y="2743200"/>
            <a:ext cx="329184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577840" y="2743200"/>
            <a:ext cx="73152" cy="9144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87568" y="27889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LSBマスク近傍検索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LSB mask neighbor search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687568" y="3246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下位ビットを0にして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検索範囲を段階的に拡大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577840" y="3794760"/>
            <a:ext cx="329184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577840" y="3794760"/>
            <a:ext cx="73152" cy="91440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87568" y="38404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AND条件マッチング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AND-condition matching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687568" y="4297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複数次元すべてが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マッチした時のみ出力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1005840"/>
          </a:xfrm>
          <a:prstGeom prst="rect">
            <a:avLst/>
          </a:prstGeom>
          <a:solidFill>
            <a:srgbClr val="063B72"/>
          </a:solidFill>
          <a:ln w="12700">
            <a:solidFill>
              <a:srgbClr val="063B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457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02｜アドレスメモリー設計  /  Address Memory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4048" y="5669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CAMセルの構成とビット比較器 / CAM Cell Structure &amp; Bit Comparator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503920" y="0"/>
            <a:ext cx="640080" cy="100584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CAMセル 1ビット分の論理構成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1-bit CAM Cell Logic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691640"/>
            <a:ext cx="4846320" cy="621792"/>
          </a:xfrm>
          <a:prstGeom prst="rect">
            <a:avLst/>
          </a:prstGeom>
          <a:solidFill>
            <a:srgbClr val="0D1B4B">
              <a:alpha val="8000"/>
            </a:srgbClr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691640"/>
            <a:ext cx="658368" cy="621792"/>
          </a:xfrm>
          <a:prstGeom prst="rect">
            <a:avLst/>
          </a:prstGeom>
          <a:solidFill>
            <a:srgbClr val="0A7EA4">
              <a:alpha val="80000"/>
            </a:srgbClr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691640"/>
            <a:ext cx="6583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XNOR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764792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match_bit = ~(stored_bit ^ input_bit)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423160"/>
            <a:ext cx="4846320" cy="621792"/>
          </a:xfrm>
          <a:prstGeom prst="rect">
            <a:avLst/>
          </a:prstGeom>
          <a:solidFill>
            <a:srgbClr val="0D1B4B">
              <a:alpha val="8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423160"/>
            <a:ext cx="658368" cy="621792"/>
          </a:xfrm>
          <a:prstGeom prst="rect">
            <a:avLst/>
          </a:prstGeom>
          <a:solidFill>
            <a:srgbClr val="F0A500">
              <a:alpha val="80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423160"/>
            <a:ext cx="6583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2496312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masked     = match_bit | ~mask_bit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154680"/>
            <a:ext cx="4846320" cy="621792"/>
          </a:xfrm>
          <a:prstGeom prst="rect">
            <a:avLst/>
          </a:prstGeom>
          <a:solidFill>
            <a:srgbClr val="0D1B4B">
              <a:alpha val="8000"/>
            </a:srgbClr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154680"/>
            <a:ext cx="658368" cy="621792"/>
          </a:xfrm>
          <a:prstGeom prst="rect">
            <a:avLst/>
          </a:prstGeom>
          <a:solidFill>
            <a:srgbClr val="7B5EA7">
              <a:alpha val="80000"/>
            </a:srgbClr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154680"/>
            <a:ext cx="6583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3227832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row_match  = AND(masked[0..N-1])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" y="37947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動作フロー / Operation Flow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" y="406908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0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入力アドレスと格納アドレスを全ビット同時にXNOR比較
    Input &amp; stored address compared bit-by-bit via XNOR
</a:t>
            </a:r>
            <a:pPr indent="0" marL="0">
              <a:buNone/>
            </a:pPr>
            <a:r>
              <a:rPr lang="en-US" sz="10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0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マスクレジスタで指定ビットを無効化（1=有効,0=無視）
    Mask register invalidates specified bits (1=active, 0=ignore)
</a:t>
            </a:r>
            <a:pPr indent="0" marL="0">
              <a:buNone/>
            </a:pPr>
            <a:r>
              <a:rPr lang="en-US" sz="105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0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全有効ビットのANDを取りrow_matchを生成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AND of all active bits generates row_match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0" y="11430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CAMアレイ構成（N行）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 Array (N rows)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0" y="1645920"/>
            <a:ext cx="3383280" cy="3657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0" y="1645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入力アドレスバス + マスクレジスタ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Address Bus + Mask Register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178040" y="2011680"/>
            <a:ext cx="0" cy="365760"/>
          </a:xfrm>
          <a:prstGeom prst="line">
            <a:avLst/>
          </a:prstGeom>
          <a:noFill/>
          <a:ln w="12700">
            <a:solidFill>
              <a:srgbClr val="38B6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78040" y="2377440"/>
            <a:ext cx="502920" cy="0"/>
          </a:xfrm>
          <a:prstGeom prst="line">
            <a:avLst/>
          </a:prstGeom>
          <a:noFill/>
          <a:ln w="12700">
            <a:solidFill>
              <a:srgbClr val="38B6D9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486400" y="2121408"/>
            <a:ext cx="1627632" cy="411480"/>
          </a:xfrm>
          <a:prstGeom prst="rect">
            <a:avLst/>
          </a:prstGeom>
          <a:solidFill>
            <a:srgbClr val="E8F4FB"/>
          </a:solidFill>
          <a:ln w="10160">
            <a:solidFill>
              <a:srgbClr val="0A7EA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0" y="212140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CAMセル×Nbit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0 (Entry #0)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680960" y="2167128"/>
            <a:ext cx="1097280" cy="320040"/>
          </a:xfrm>
          <a:prstGeom prst="rect">
            <a:avLst/>
          </a:prstGeom>
          <a:solidFill>
            <a:srgbClr val="0A7EA4">
              <a:alpha val="20000"/>
            </a:srgbClr>
          </a:solidFill>
          <a:ln w="10160">
            <a:solidFill>
              <a:srgbClr val="0A7EA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0" y="216712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7E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match_bit[0]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178040" y="2011680"/>
            <a:ext cx="0" cy="896112"/>
          </a:xfrm>
          <a:prstGeom prst="line">
            <a:avLst/>
          </a:prstGeom>
          <a:noFill/>
          <a:ln w="12700">
            <a:solidFill>
              <a:srgbClr val="38B6D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78040" y="2907792"/>
            <a:ext cx="502920" cy="0"/>
          </a:xfrm>
          <a:prstGeom prst="line">
            <a:avLst/>
          </a:prstGeom>
          <a:noFill/>
          <a:ln w="12700">
            <a:solidFill>
              <a:srgbClr val="38B6D9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5486400" y="2651760"/>
            <a:ext cx="1627632" cy="411480"/>
          </a:xfrm>
          <a:prstGeom prst="rect">
            <a:avLst/>
          </a:prstGeom>
          <a:solidFill>
            <a:srgbClr val="E8F4FB"/>
          </a:solidFill>
          <a:ln w="10160">
            <a:solidFill>
              <a:srgbClr val="0A7EA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0" y="265176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CAMセル×Nbit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1 (Entry #1)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680960" y="2697480"/>
            <a:ext cx="1097280" cy="320040"/>
          </a:xfrm>
          <a:prstGeom prst="rect">
            <a:avLst/>
          </a:prstGeom>
          <a:solidFill>
            <a:srgbClr val="0A7EA4">
              <a:alpha val="20000"/>
            </a:srgbClr>
          </a:solidFill>
          <a:ln w="10160">
            <a:solidFill>
              <a:srgbClr val="0A7EA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0" y="26974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7E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match_bit[1]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178040" y="2011680"/>
            <a:ext cx="0" cy="1426464"/>
          </a:xfrm>
          <a:prstGeom prst="line">
            <a:avLst/>
          </a:prstGeom>
          <a:noFill/>
          <a:ln w="12700">
            <a:solidFill>
              <a:srgbClr val="38B6D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178040" y="3438144"/>
            <a:ext cx="502920" cy="0"/>
          </a:xfrm>
          <a:prstGeom prst="line">
            <a:avLst/>
          </a:prstGeom>
          <a:noFill/>
          <a:ln w="12700">
            <a:solidFill>
              <a:srgbClr val="38B6D9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5486400" y="3182112"/>
            <a:ext cx="1627632" cy="411480"/>
          </a:xfrm>
          <a:prstGeom prst="rect">
            <a:avLst/>
          </a:prstGeom>
          <a:solidFill>
            <a:srgbClr val="E8F4FB"/>
          </a:solidFill>
          <a:ln w="10160">
            <a:solidFill>
              <a:srgbClr val="0A7EA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0" y="3182112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CAMセル×Nbit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2 (Entry #2)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680960" y="3227832"/>
            <a:ext cx="1097280" cy="320040"/>
          </a:xfrm>
          <a:prstGeom prst="rect">
            <a:avLst/>
          </a:prstGeom>
          <a:solidFill>
            <a:srgbClr val="0A7EA4">
              <a:alpha val="20000"/>
            </a:srgbClr>
          </a:solidFill>
          <a:ln w="10160">
            <a:solidFill>
              <a:srgbClr val="0A7EA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80960" y="32278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7E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match_bit[2]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126480" y="37124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5486400" y="4041648"/>
            <a:ext cx="3383280" cy="685800"/>
          </a:xfrm>
          <a:prstGeom prst="rect">
            <a:avLst/>
          </a:prstGeom>
          <a:solidFill>
            <a:srgbClr val="F0A500">
              <a:alpha val="12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0" y="404164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書き込みカウンター WR_PTR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Pointer — increments on each new entry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1005840"/>
          </a:xfrm>
          <a:prstGeom prst="rect">
            <a:avLst/>
          </a:prstGeom>
          <a:solidFill>
            <a:srgbClr val="063B72"/>
          </a:solidFill>
          <a:ln w="12700">
            <a:solidFill>
              <a:srgbClr val="063B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457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03｜AND マッチング機構  /  AND Matching Mechanism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4048" y="5669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並列アドレスメモリーの全一致条件 / All-match condition across parallel memories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503920" y="0"/>
            <a:ext cx="640080" cy="100584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9728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並列接続時の信号フロー / Signal Flow (Parallel Connection)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508760"/>
            <a:ext cx="8503920" cy="402336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508760"/>
            <a:ext cx="8503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入力アドレス（N bit）+ マスクレジスタ  /  Input Address (N-bit) + Mask Register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508760" y="1911096"/>
            <a:ext cx="0" cy="237744"/>
          </a:xfrm>
          <a:prstGeom prst="line">
            <a:avLst/>
          </a:prstGeom>
          <a:noFill/>
          <a:ln w="19050">
            <a:solidFill>
              <a:srgbClr val="0A7EA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02920" y="2148840"/>
            <a:ext cx="2057400" cy="1005840"/>
          </a:xfrm>
          <a:prstGeom prst="rect">
            <a:avLst/>
          </a:prstGeom>
          <a:solidFill>
            <a:srgbClr val="0A7EA4">
              <a:alpha val="12000"/>
            </a:srgbClr>
          </a:solidFill>
          <a:ln w="19050">
            <a:solidFill>
              <a:srgbClr val="0A7E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176272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CAMアレイ #1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（次元1 / Dim-1）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670048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例：色空間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space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508760" y="3154680"/>
            <a:ext cx="0" cy="274320"/>
          </a:xfrm>
          <a:prstGeom prst="line">
            <a:avLst/>
          </a:prstGeom>
          <a:noFill/>
          <a:ln w="19050">
            <a:solidFill>
              <a:srgbClr val="0A7EA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77240" y="3429000"/>
            <a:ext cx="1463040" cy="329184"/>
          </a:xfrm>
          <a:prstGeom prst="rect">
            <a:avLst/>
          </a:prstGeom>
          <a:solidFill>
            <a:srgbClr val="0A7EA4">
              <a:alpha val="20000"/>
            </a:srgbClr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4290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7E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match_flag[0]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508760" y="3758184"/>
            <a:ext cx="0" cy="201168"/>
          </a:xfrm>
          <a:prstGeom prst="line">
            <a:avLst/>
          </a:prstGeom>
          <a:noFill/>
          <a:ln w="15240">
            <a:solidFill>
              <a:srgbClr val="0A7EA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43400" y="1911096"/>
            <a:ext cx="0" cy="237744"/>
          </a:xfrm>
          <a:prstGeom prst="line">
            <a:avLst/>
          </a:prstGeom>
          <a:noFill/>
          <a:ln w="19050">
            <a:solidFill>
              <a:srgbClr val="7B5EA7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337560" y="2148840"/>
            <a:ext cx="2057400" cy="1005840"/>
          </a:xfrm>
          <a:prstGeom prst="rect">
            <a:avLst/>
          </a:prstGeom>
          <a:solidFill>
            <a:srgbClr val="7B5EA7">
              <a:alpha val="12000"/>
            </a:srgbClr>
          </a:solidFill>
          <a:ln w="19050">
            <a:solidFill>
              <a:srgbClr val="7B5E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2176272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CAMアレイ #2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（次元2 / Dim-2）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37560" y="2670048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例：形状特徴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feature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343400" y="3154680"/>
            <a:ext cx="0" cy="274320"/>
          </a:xfrm>
          <a:prstGeom prst="line">
            <a:avLst/>
          </a:prstGeom>
          <a:noFill/>
          <a:ln w="19050">
            <a:solidFill>
              <a:srgbClr val="7B5EA7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611880" y="3429000"/>
            <a:ext cx="1463040" cy="329184"/>
          </a:xfrm>
          <a:prstGeom prst="rect">
            <a:avLst/>
          </a:prstGeom>
          <a:solidFill>
            <a:srgbClr val="7B5EA7">
              <a:alpha val="20000"/>
            </a:srgbClr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11880" y="34290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B5E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match_flag[1]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43400" y="3758184"/>
            <a:ext cx="0" cy="201168"/>
          </a:xfrm>
          <a:prstGeom prst="line">
            <a:avLst/>
          </a:prstGeom>
          <a:noFill/>
          <a:ln w="15240">
            <a:solidFill>
              <a:srgbClr val="7B5EA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78040" y="1911096"/>
            <a:ext cx="0" cy="237744"/>
          </a:xfrm>
          <a:prstGeom prst="line">
            <a:avLst/>
          </a:prstGeom>
          <a:noFill/>
          <a:ln w="19050">
            <a:solidFill>
              <a:srgbClr val="F0A50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172200" y="2148840"/>
            <a:ext cx="2057400" cy="1005840"/>
          </a:xfrm>
          <a:prstGeom prst="rect">
            <a:avLst/>
          </a:prstGeom>
          <a:solidFill>
            <a:srgbClr val="F0A500">
              <a:alpha val="12000"/>
            </a:srgbClr>
          </a:solidFill>
          <a:ln w="19050">
            <a:solidFill>
              <a:srgbClr val="F0A5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2176272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CAMアレイ #3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（次元3 / Dim-3）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72200" y="2670048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例：位置情報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178040" y="3154680"/>
            <a:ext cx="0" cy="274320"/>
          </a:xfrm>
          <a:prstGeom prst="line">
            <a:avLst/>
          </a:prstGeom>
          <a:noFill/>
          <a:ln w="19050">
            <a:solidFill>
              <a:srgbClr val="F0A500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446520" y="3429000"/>
            <a:ext cx="1463040" cy="329184"/>
          </a:xfrm>
          <a:prstGeom prst="rect">
            <a:avLst/>
          </a:prstGeom>
          <a:solidFill>
            <a:srgbClr val="F0A500">
              <a:alpha val="20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46520" y="34290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match_flag[2]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178040" y="3758184"/>
            <a:ext cx="0" cy="201168"/>
          </a:xfrm>
          <a:prstGeom prst="line">
            <a:avLst/>
          </a:prstGeom>
          <a:noFill/>
          <a:ln w="15240">
            <a:solidFill>
              <a:srgbClr val="F0A5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508760" y="3959352"/>
            <a:ext cx="6035040" cy="0"/>
          </a:xfrm>
          <a:prstGeom prst="line">
            <a:avLst/>
          </a:prstGeom>
          <a:noFill/>
          <a:ln w="19050">
            <a:solidFill>
              <a:srgbClr val="38B6D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26280" y="3959352"/>
            <a:ext cx="0" cy="237744"/>
          </a:xfrm>
          <a:prstGeom prst="line">
            <a:avLst/>
          </a:prstGeom>
          <a:noFill/>
          <a:ln w="19050">
            <a:solidFill>
              <a:srgbClr val="38B6D9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6035040" y="354787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出力条件 / Output Condition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3895344"/>
          <a:ext cx="28346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640080"/>
                <a:gridCol w="64008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A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EA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A5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出力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8A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データ出力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NotFind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NotFind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8" name="Shape 35"/>
          <p:cNvSpPr/>
          <p:nvPr/>
        </p:nvSpPr>
        <p:spPr>
          <a:xfrm>
            <a:off x="3200400" y="4197096"/>
            <a:ext cx="2651760" cy="530352"/>
          </a:xfrm>
          <a:prstGeom prst="rect">
            <a:avLst/>
          </a:prstGeom>
          <a:solidFill>
            <a:srgbClr val="E05050">
              <a:alpha val="15000"/>
            </a:srgbClr>
          </a:solidFill>
          <a:ln w="19050">
            <a:solidFill>
              <a:srgbClr val="E0505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200400" y="4197096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リダクション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match_flag[0] &amp; match_flag[1] &amp; match_flag[2]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1005840"/>
          </a:xfrm>
          <a:prstGeom prst="rect">
            <a:avLst/>
          </a:prstGeom>
          <a:solidFill>
            <a:srgbClr val="063B72"/>
          </a:solidFill>
          <a:ln w="12700">
            <a:solidFill>
              <a:srgbClr val="063B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457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04｜データメモリー設計  /  Data Memory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4048" y="5669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読み出し・書き込みルール / Read &amp; Write Rules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503920" y="0"/>
            <a:ext cx="640080" cy="100584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97280"/>
            <a:ext cx="2697480" cy="3794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97280"/>
            <a:ext cx="2697480" cy="59436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115568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+ HIT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140817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読み出し（一致）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9768" y="173736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CAMがrow_match &amp; HIT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29768" y="202082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hit_indexをRAMアドレスへ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29768" y="230428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RAM[hit_index] を出力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29768" y="258775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データバスに有効データ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29768" y="31546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CAM asserts row_match &amp; HIT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29768" y="343814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Use hit_index as RAM address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29768" y="372160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Output RAM[hit_index]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29768" y="400507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Valid data on output bus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0" y="1097280"/>
            <a:ext cx="2697480" cy="3794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0" y="1097280"/>
            <a:ext cx="2697480" cy="59436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1115568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+ HIT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00400" y="140817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書き込み（上書き）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10128" y="173736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CAMがrow_match &amp; HIT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10128" y="202082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既存エントリを特定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310128" y="230428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RAM[hit_index] ← 新データ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310128" y="258775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WR_PTRは変化しない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310128" y="31546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CAM asserts row_match &amp; HIT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310128" y="343814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Identify existing entry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310128" y="372160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RAM[hit_index] ← new data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310128" y="400507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WR_PTR unchanged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080760" y="1097280"/>
            <a:ext cx="2697480" cy="3794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80760" y="1097280"/>
            <a:ext cx="2697480" cy="59436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80760" y="1115568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+ NotFind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080760" y="140817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書き込み（新規登録）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90488" y="173736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CAMがNotFindを出力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190488" y="202082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CAM[WR_PTR] ← 入力Addr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190488" y="230428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RAM[WR_PTR] ← 入力Data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190488" y="258775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WR_PTR ← WR_PTR + 1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190488" y="31546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CAM asserts NotFind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190488" y="343814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CAM[WR_PTR] ← Input Addr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190488" y="372160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RAM[WR_PTR] ← Input Data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190488" y="400507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WR_PTR ← WR_PTR + 1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20040" y="4773168"/>
            <a:ext cx="8503920" cy="201168"/>
          </a:xfrm>
          <a:prstGeom prst="rect">
            <a:avLst/>
          </a:prstGeom>
          <a:solidFill>
            <a:srgbClr val="0D1B4B">
              <a:alpha val="8000"/>
            </a:srgbClr>
          </a:solidFill>
          <a:ln w="12700">
            <a:solidFill>
              <a:srgbClr val="0D1B4B">
                <a:alpha val="3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0040" y="4773168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WR_PTRがメモリー末尾に達した場合のオーバーフロー処理（ラップアラウンドまたはフルフラグ）は実装で別途定義すること  /  Overflow handling (wrap-around or FULL flag) must be defined separately in implementation.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1005840"/>
          </a:xfrm>
          <a:prstGeom prst="rect">
            <a:avLst/>
          </a:prstGeom>
          <a:solidFill>
            <a:srgbClr val="063B72"/>
          </a:solidFill>
          <a:ln w="12700">
            <a:solidFill>
              <a:srgbClr val="063B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457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05｜LSBマスク近傍検索  /  LSB Mask Neighbor Search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4048" y="5669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段階的な検索範囲の拡大 / Incremental search radius expansion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503920" y="0"/>
            <a:ext cx="640080" cy="100584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9728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検索アルゴリズム / Search Algorithm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508760"/>
            <a:ext cx="438912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508760"/>
            <a:ext cx="713232" cy="530352"/>
          </a:xfrm>
          <a:prstGeom prst="rect">
            <a:avLst/>
          </a:prstGeom>
          <a:solidFill>
            <a:srgbClr val="0A7EA4">
              <a:alpha val="85000"/>
            </a:srgbClr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508760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1545336"/>
            <a:ext cx="3547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= 0xFF…FF（全ビット有効）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= 0xFF…FF (all bits active)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76656" y="2039112"/>
            <a:ext cx="0" cy="91440"/>
          </a:xfrm>
          <a:prstGeom prst="line">
            <a:avLst/>
          </a:prstGeom>
          <a:noFill/>
          <a:ln w="15240">
            <a:solidFill>
              <a:srgbClr val="0A7EA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20040" y="2130552"/>
            <a:ext cx="438912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130552"/>
            <a:ext cx="713232" cy="530352"/>
          </a:xfrm>
          <a:prstGeom prst="rect">
            <a:avLst/>
          </a:prstGeom>
          <a:solidFill>
            <a:srgbClr val="0A7EA4">
              <a:alpha val="85000"/>
            </a:srgbClr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130552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97280" y="2167128"/>
            <a:ext cx="3547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CAMを検索　HIT → データ返却・終了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CAM.  HIT → return data, done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6656" y="2660904"/>
            <a:ext cx="0" cy="91440"/>
          </a:xfrm>
          <a:prstGeom prst="line">
            <a:avLst/>
          </a:prstGeom>
          <a:noFill/>
          <a:ln w="15240">
            <a:solidFill>
              <a:srgbClr val="0A7EA4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20040" y="2752344"/>
            <a:ext cx="438912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752344"/>
            <a:ext cx="713232" cy="530352"/>
          </a:xfrm>
          <a:prstGeom prst="rect">
            <a:avLst/>
          </a:prstGeom>
          <a:solidFill>
            <a:srgbClr val="F0A500">
              <a:alpha val="85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752344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97280" y="2788920"/>
            <a:ext cx="3547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NotFind → mask LSBを0シフト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NotFind → shift LSB of mask to 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6656" y="3282696"/>
            <a:ext cx="0" cy="91440"/>
          </a:xfrm>
          <a:prstGeom prst="line">
            <a:avLst/>
          </a:prstGeom>
          <a:noFill/>
          <a:ln w="15240">
            <a:solidFill>
              <a:srgbClr val="F0A50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20040" y="3374136"/>
            <a:ext cx="438912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374136"/>
            <a:ext cx="713232" cy="530352"/>
          </a:xfrm>
          <a:prstGeom prst="rect">
            <a:avLst/>
          </a:prstGeom>
          <a:solidFill>
            <a:srgbClr val="F0A500">
              <a:alpha val="85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374136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97280" y="3410712"/>
            <a:ext cx="3547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に戻り再検索（範囲×2）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to Step 2, re-search (range ×2)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76656" y="3904488"/>
            <a:ext cx="0" cy="91440"/>
          </a:xfrm>
          <a:prstGeom prst="line">
            <a:avLst/>
          </a:prstGeom>
          <a:noFill/>
          <a:ln w="15240">
            <a:solidFill>
              <a:srgbClr val="F0A50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20040" y="3995928"/>
            <a:ext cx="438912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3995928"/>
            <a:ext cx="713232" cy="530352"/>
          </a:xfrm>
          <a:prstGeom prst="rect">
            <a:avLst/>
          </a:prstGeom>
          <a:solidFill>
            <a:srgbClr val="E05050">
              <a:alpha val="85000"/>
            </a:srgbClr>
          </a:solidFill>
          <a:ln w="12700">
            <a:solidFill>
              <a:srgbClr val="E050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3995928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97280" y="4032504"/>
            <a:ext cx="3547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許容ビット差の上限に達したら終了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when max allowed bit-diff reached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0" y="1097280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マスクシフトのビット表現 / Mask Bit Representation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029200" y="1508760"/>
            <a:ext cx="37947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74920" y="1545336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完全一致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match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91072" y="1618488"/>
            <a:ext cx="1536192" cy="329184"/>
          </a:xfrm>
          <a:prstGeom prst="rect">
            <a:avLst/>
          </a:prstGeom>
          <a:solidFill>
            <a:srgbClr val="0A7EA4">
              <a:alpha val="12000"/>
            </a:srgbClr>
          </a:solidFill>
          <a:ln w="12700">
            <a:solidFill>
              <a:srgbClr val="0A7EA4">
                <a:alpha val="4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91072" y="1618488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7E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1111  1111  1111  1111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863840" y="1600200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検索範囲：1点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1 point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029200" y="2313432"/>
            <a:ext cx="37947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74920" y="2350008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近傍 ×2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 ×2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91072" y="2423160"/>
            <a:ext cx="1536192" cy="329184"/>
          </a:xfrm>
          <a:prstGeom prst="rect">
            <a:avLst/>
          </a:prstGeom>
          <a:solidFill>
            <a:srgbClr val="F0A500">
              <a:alpha val="12000"/>
            </a:srgbClr>
          </a:solidFill>
          <a:ln w="12700">
            <a:solidFill>
              <a:srgbClr val="F0A500">
                <a:alpha val="4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91072" y="2423160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1111  1111  1111  1110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863840" y="2404872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LSB 1bit 無視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LSB 1-bit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029200" y="3118104"/>
            <a:ext cx="37947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74920" y="3154680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近傍 ×4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 ×4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291072" y="3227832"/>
            <a:ext cx="1536192" cy="329184"/>
          </a:xfrm>
          <a:prstGeom prst="rect">
            <a:avLst/>
          </a:prstGeom>
          <a:solidFill>
            <a:srgbClr val="F0A500">
              <a:alpha val="12000"/>
            </a:srgbClr>
          </a:solidFill>
          <a:ln w="12700">
            <a:solidFill>
              <a:srgbClr val="F0A500">
                <a:alpha val="4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91072" y="3227832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1111  1111  1111  1100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863840" y="3209544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LSB 2bit 無視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LSB 2-bits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029200" y="3922776"/>
            <a:ext cx="37947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505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74920" y="3959352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近傍 ×256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 ×256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291072" y="4032504"/>
            <a:ext cx="1536192" cy="329184"/>
          </a:xfrm>
          <a:prstGeom prst="rect">
            <a:avLst/>
          </a:prstGeom>
          <a:solidFill>
            <a:srgbClr val="E05050">
              <a:alpha val="12000"/>
            </a:srgbClr>
          </a:solidFill>
          <a:ln w="12700">
            <a:solidFill>
              <a:srgbClr val="E05050">
                <a:alpha val="4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91072" y="4032504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05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1111  1111  1111  000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863840" y="4014216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LSB 8bit 無視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LSB 8-bits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1005840"/>
          </a:xfrm>
          <a:prstGeom prst="rect">
            <a:avLst/>
          </a:prstGeom>
          <a:solidFill>
            <a:srgbClr val="063B72"/>
          </a:solidFill>
          <a:ln w="12700">
            <a:solidFill>
              <a:srgbClr val="063B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457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06｜拡張構成（並列・直列）  /  Scalable Configuration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4048" y="5669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アドレス空間・次元・データ幅の拡張 / Address space, dimension, and data width expansion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503920" y="0"/>
            <a:ext cx="640080" cy="100584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78992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並列接続 → 次元拡張 / Parallel → Dimension Expansion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444752"/>
            <a:ext cx="8503920" cy="310896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444752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入力アドレス（各次元）  /  Input Address (per dimension)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508760" y="1755648"/>
            <a:ext cx="0" cy="201168"/>
          </a:xfrm>
          <a:prstGeom prst="line">
            <a:avLst/>
          </a:prstGeom>
          <a:noFill/>
          <a:ln w="19050">
            <a:solidFill>
              <a:srgbClr val="0A7EA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02920" y="1956816"/>
            <a:ext cx="2057400" cy="640080"/>
          </a:xfrm>
          <a:prstGeom prst="rect">
            <a:avLst/>
          </a:prstGeom>
          <a:solidFill>
            <a:srgbClr val="0A7EA4">
              <a:alpha val="15000"/>
            </a:srgbClr>
          </a:solidFill>
          <a:ln w="19050">
            <a:solidFill>
              <a:srgbClr val="0A7E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956816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 #1（Dim 1）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508760" y="2596896"/>
            <a:ext cx="0" cy="182880"/>
          </a:xfrm>
          <a:prstGeom prst="line">
            <a:avLst/>
          </a:prstGeom>
          <a:noFill/>
          <a:ln w="15240">
            <a:solidFill>
              <a:srgbClr val="0A7EA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43400" y="1755648"/>
            <a:ext cx="0" cy="201168"/>
          </a:xfrm>
          <a:prstGeom prst="line">
            <a:avLst/>
          </a:prstGeom>
          <a:noFill/>
          <a:ln w="19050">
            <a:solidFill>
              <a:srgbClr val="7B5EA7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337560" y="1956816"/>
            <a:ext cx="2057400" cy="640080"/>
          </a:xfrm>
          <a:prstGeom prst="rect">
            <a:avLst/>
          </a:prstGeom>
          <a:solidFill>
            <a:srgbClr val="7B5EA7">
              <a:alpha val="15000"/>
            </a:srgbClr>
          </a:solidFill>
          <a:ln w="19050">
            <a:solidFill>
              <a:srgbClr val="7B5E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1956816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 #2（Dim 2）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43400" y="2596896"/>
            <a:ext cx="0" cy="182880"/>
          </a:xfrm>
          <a:prstGeom prst="line">
            <a:avLst/>
          </a:prstGeom>
          <a:noFill/>
          <a:ln w="15240">
            <a:solidFill>
              <a:srgbClr val="7B5EA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78040" y="1755648"/>
            <a:ext cx="0" cy="201168"/>
          </a:xfrm>
          <a:prstGeom prst="line">
            <a:avLst/>
          </a:prstGeom>
          <a:noFill/>
          <a:ln w="19050">
            <a:solidFill>
              <a:srgbClr val="F0A50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172200" y="1956816"/>
            <a:ext cx="2057400" cy="640080"/>
          </a:xfrm>
          <a:prstGeom prst="rect">
            <a:avLst/>
          </a:prstGeom>
          <a:solidFill>
            <a:srgbClr val="F0A500">
              <a:alpha val="15000"/>
            </a:srgbClr>
          </a:solidFill>
          <a:ln w="19050">
            <a:solidFill>
              <a:srgbClr val="F0A5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1956816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 #3（Dim 3）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178040" y="2596896"/>
            <a:ext cx="0" cy="182880"/>
          </a:xfrm>
          <a:prstGeom prst="line">
            <a:avLst/>
          </a:prstGeom>
          <a:noFill/>
          <a:ln w="15240">
            <a:solidFill>
              <a:srgbClr val="F0A5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08760" y="2779776"/>
            <a:ext cx="6035040" cy="0"/>
          </a:xfrm>
          <a:prstGeom prst="line">
            <a:avLst/>
          </a:prstGeom>
          <a:noFill/>
          <a:ln w="19050">
            <a:solidFill>
              <a:srgbClr val="38B6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26280" y="2779776"/>
            <a:ext cx="0" cy="182880"/>
          </a:xfrm>
          <a:prstGeom prst="line">
            <a:avLst/>
          </a:prstGeom>
          <a:noFill/>
          <a:ln w="19050">
            <a:solidFill>
              <a:srgbClr val="38B6D9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383280" y="2962656"/>
            <a:ext cx="2286000" cy="384048"/>
          </a:xfrm>
          <a:prstGeom prst="rect">
            <a:avLst/>
          </a:prstGeom>
          <a:solidFill>
            <a:srgbClr val="E05050">
              <a:alpha val="15000"/>
            </a:srgbClr>
          </a:solidFill>
          <a:ln w="19050">
            <a:solidFill>
              <a:srgbClr val="E050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296265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ゲート  /  AND Gate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3493008"/>
            <a:ext cx="8503920" cy="0"/>
          </a:xfrm>
          <a:prstGeom prst="line">
            <a:avLst/>
          </a:prstGeom>
          <a:noFill/>
          <a:ln w="10160">
            <a:solidFill>
              <a:srgbClr val="C8D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547872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直列接続 → データ幅拡張 / Serial → Data Width Expansion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2920" y="3931920"/>
            <a:ext cx="2468880" cy="822960"/>
          </a:xfrm>
          <a:prstGeom prst="rect">
            <a:avLst/>
          </a:prstGeom>
          <a:solidFill>
            <a:srgbClr val="0A7EA4">
              <a:alpha val="12000"/>
            </a:srgbClr>
          </a:solidFill>
          <a:ln w="15240">
            <a:solidFill>
              <a:srgbClr val="0A7EA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9319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SRAM Block #1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RD/WR ポート付き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971800" y="4343400"/>
            <a:ext cx="274320" cy="0"/>
          </a:xfrm>
          <a:prstGeom prst="line">
            <a:avLst/>
          </a:prstGeom>
          <a:noFill/>
          <a:ln w="19050">
            <a:solidFill>
              <a:srgbClr val="0A7EA4"/>
            </a:solidFill>
            <a:prstDash val="dash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3246120" y="3931920"/>
            <a:ext cx="2468880" cy="822960"/>
          </a:xfrm>
          <a:prstGeom prst="rect">
            <a:avLst/>
          </a:prstGeom>
          <a:solidFill>
            <a:srgbClr val="0A7EA4">
              <a:alpha val="12000"/>
            </a:srgbClr>
          </a:solidFill>
          <a:ln w="15240">
            <a:solidFill>
              <a:srgbClr val="0A7EA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46120" y="39319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SRAM Block #2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RD/WR ポート付き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715000" y="4343400"/>
            <a:ext cx="274320" cy="0"/>
          </a:xfrm>
          <a:prstGeom prst="line">
            <a:avLst/>
          </a:prstGeom>
          <a:noFill/>
          <a:ln w="19050">
            <a:solidFill>
              <a:srgbClr val="0A7EA4"/>
            </a:solidFill>
            <a:prstDash val="dash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5989320" y="3931920"/>
            <a:ext cx="2468880" cy="822960"/>
          </a:xfrm>
          <a:prstGeom prst="rect">
            <a:avLst/>
          </a:prstGeom>
          <a:solidFill>
            <a:srgbClr val="0A7EA4">
              <a:alpha val="12000"/>
            </a:srgbClr>
          </a:solidFill>
          <a:ln w="15240">
            <a:solidFill>
              <a:srgbClr val="0A7EA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89320" y="39319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SRAM Block #3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RD/WR ポート付き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20040" y="4828032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各ブロックの出力を連結してデータバス幅を拡張  /  Concatenate outputs to expand data bus width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1005840"/>
          </a:xfrm>
          <a:prstGeom prst="rect">
            <a:avLst/>
          </a:prstGeom>
          <a:solidFill>
            <a:srgbClr val="063B72"/>
          </a:solidFill>
          <a:ln w="12700">
            <a:solidFill>
              <a:srgbClr val="063B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457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07｜ASIC 実装方針  /  ASIC Implementation Policy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4048" y="5669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設計フロー・技術選択 / Design Flow &amp; Technology Choices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503920" y="0"/>
            <a:ext cx="640080" cy="100584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7899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設計構成要素 / RTL Design Components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481328"/>
            <a:ext cx="411480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481328"/>
            <a:ext cx="54864" cy="420624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499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7E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cam_cell.v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68249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XNOR + ANDゲート 1ビット分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1-bit XNOR+AND comparator cell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1975104"/>
            <a:ext cx="411480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975104"/>
            <a:ext cx="54864" cy="420624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199339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7E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cam_array.v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" y="21762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N行×Mビットのアレイ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N-row × M-bit CAM array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468880"/>
            <a:ext cx="411480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468880"/>
            <a:ext cx="54864" cy="42062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248716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mask_reg.v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8912" y="267004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LSBシフトマスクレジスタ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LSB-shift mask register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2962656"/>
            <a:ext cx="411480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962656"/>
            <a:ext cx="54864" cy="420624"/>
          </a:xfrm>
          <a:prstGeom prst="rect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298094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5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and_tree.v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8912" y="316382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ANDリダクションツリー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reduction tree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3456432"/>
            <a:ext cx="411480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456432"/>
            <a:ext cx="54864" cy="420624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347472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5E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data_sram.v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38912" y="36576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SRAMマクロ ラッパー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SRAM macro wrapper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3950208"/>
            <a:ext cx="411480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3950208"/>
            <a:ext cx="54864" cy="42062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" y="396849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wr_counter.v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38912" y="415137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書き込みポインター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pointer counter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0040" y="4443984"/>
            <a:ext cx="411480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" y="4443984"/>
            <a:ext cx="54864" cy="420624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8912" y="446227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top_spatial.v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38912" y="464515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トップモジュール統合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 integration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663440" y="1078992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実装フェーズ / Implementation Phases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663440" y="1481328"/>
            <a:ext cx="4160520" cy="585216"/>
          </a:xfrm>
          <a:prstGeom prst="rect">
            <a:avLst/>
          </a:prstGeom>
          <a:solidFill>
            <a:srgbClr val="FFFFFF"/>
          </a:solidFill>
          <a:ln w="1016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63440" y="1481328"/>
            <a:ext cx="640080" cy="585216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1481328"/>
            <a:ext cx="640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Ph.1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358384" y="1517904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RTL記述 + シミュレーション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Verilog RTL + Simulation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498080" y="1591056"/>
            <a:ext cx="1261872" cy="365760"/>
          </a:xfrm>
          <a:prstGeom prst="rect">
            <a:avLst/>
          </a:prstGeom>
          <a:solidFill>
            <a:srgbClr val="0A7EA4">
              <a:alpha val="12000"/>
            </a:srgbClr>
          </a:solidFill>
          <a:ln w="12700">
            <a:solidFill>
              <a:srgbClr val="0A7EA4">
                <a:alpha val="4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98080" y="1591056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ModelSim / Verilator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663440" y="2157984"/>
            <a:ext cx="4160520" cy="585216"/>
          </a:xfrm>
          <a:prstGeom prst="rect">
            <a:avLst/>
          </a:prstGeom>
          <a:solidFill>
            <a:srgbClr val="FFFFFF"/>
          </a:solidFill>
          <a:ln w="1016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663440" y="2157984"/>
            <a:ext cx="640080" cy="585216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63440" y="2157984"/>
            <a:ext cx="640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Ph.2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358384" y="2194560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プロトタイプ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Prototype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7498080" y="2267712"/>
            <a:ext cx="1261872" cy="365760"/>
          </a:xfrm>
          <a:prstGeom prst="rect">
            <a:avLst/>
          </a:prstGeom>
          <a:solidFill>
            <a:srgbClr val="7B5EA7">
              <a:alpha val="12000"/>
            </a:srgbClr>
          </a:solidFill>
          <a:ln w="12700">
            <a:solidFill>
              <a:srgbClr val="7B5EA7">
                <a:alpha val="4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98080" y="2267712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Vivado / Quartus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663440" y="2834640"/>
            <a:ext cx="4160520" cy="585216"/>
          </a:xfrm>
          <a:prstGeom prst="rect">
            <a:avLst/>
          </a:prstGeom>
          <a:solidFill>
            <a:srgbClr val="FFFFFF"/>
          </a:solidFill>
          <a:ln w="1016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663440" y="2834640"/>
            <a:ext cx="640080" cy="58521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63440" y="2834640"/>
            <a:ext cx="640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Ph.3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358384" y="2871216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論理合成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Synthesis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7498080" y="2944368"/>
            <a:ext cx="1261872" cy="365760"/>
          </a:xfrm>
          <a:prstGeom prst="rect">
            <a:avLst/>
          </a:prstGeom>
          <a:solidFill>
            <a:srgbClr val="F0A500">
              <a:alpha val="12000"/>
            </a:srgbClr>
          </a:solidFill>
          <a:ln w="12700">
            <a:solidFill>
              <a:srgbClr val="F0A500">
                <a:alpha val="4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98080" y="2944368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Synopsys DC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663440" y="3511296"/>
            <a:ext cx="4160520" cy="585216"/>
          </a:xfrm>
          <a:prstGeom prst="rect">
            <a:avLst/>
          </a:prstGeom>
          <a:solidFill>
            <a:srgbClr val="FFFFFF"/>
          </a:solidFill>
          <a:ln w="1016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4663440" y="3511296"/>
            <a:ext cx="640080" cy="58521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663440" y="3511296"/>
            <a:ext cx="640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Ph.4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5358384" y="3547872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配置配線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P&amp;R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7498080" y="3621024"/>
            <a:ext cx="1261872" cy="365760"/>
          </a:xfrm>
          <a:prstGeom prst="rect">
            <a:avLst/>
          </a:prstGeom>
          <a:solidFill>
            <a:srgbClr val="F0A500">
              <a:alpha val="12000"/>
            </a:srgbClr>
          </a:solidFill>
          <a:ln w="12700">
            <a:solidFill>
              <a:srgbClr val="F0A500">
                <a:alpha val="4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498080" y="3621024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 Innovus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663440" y="4187952"/>
            <a:ext cx="4160520" cy="585216"/>
          </a:xfrm>
          <a:prstGeom prst="rect">
            <a:avLst/>
          </a:prstGeom>
          <a:solidFill>
            <a:srgbClr val="FFFFFF"/>
          </a:solidFill>
          <a:ln w="1016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4663440" y="4187952"/>
            <a:ext cx="640080" cy="585216"/>
          </a:xfrm>
          <a:prstGeom prst="rect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663440" y="4187952"/>
            <a:ext cx="640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Ph.5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5358384" y="4224528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テープアウト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Tape-out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7498080" y="4297680"/>
            <a:ext cx="1261872" cy="365760"/>
          </a:xfrm>
          <a:prstGeom prst="rect">
            <a:avLst/>
          </a:prstGeom>
          <a:solidFill>
            <a:srgbClr val="E05050">
              <a:alpha val="12000"/>
            </a:srgbClr>
          </a:solidFill>
          <a:ln w="12700">
            <a:solidFill>
              <a:srgbClr val="E05050">
                <a:alpha val="40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498080" y="429768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TSMC / GF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1005840"/>
          </a:xfrm>
          <a:prstGeom prst="rect">
            <a:avLst/>
          </a:prstGeom>
          <a:solidFill>
            <a:srgbClr val="063B72"/>
          </a:solidFill>
          <a:ln w="12700">
            <a:solidFill>
              <a:srgbClr val="063B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457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08｜C# シミュレーション設計  /  C# Simulation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4048" y="5669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Standard ライブラリ構成 / .Net Standard Library Architecture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503920" y="0"/>
            <a:ext cx="640080" cy="100584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7899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クラス設計 / Class Design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481328"/>
            <a:ext cx="457200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481328"/>
            <a:ext cx="54864" cy="603504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150876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7E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CamCell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0624" y="173736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E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SpatialMemory.Core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514600" y="151790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1ビットXNOR比較器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1-bit XNOR comparator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514600" y="182880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E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StoredBit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BAE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Compare(inputBit, maskBit)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176272"/>
            <a:ext cx="457200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176272"/>
            <a:ext cx="54864" cy="603504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220370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7E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CamArray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0624" y="243230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E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SpatialMemory.Core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514600" y="221284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N行×Mビット CAMアレイ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N×M CAM array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514600" y="252374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E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EntryCount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BAE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BitWidth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BAE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bool[] Search(addr, mask)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2871216"/>
            <a:ext cx="457200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871216"/>
            <a:ext cx="54864" cy="603504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" y="28986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5E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DataMemory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20624" y="312724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E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SpatialMemory.Core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514600" y="290779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データRAM + RW制御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RAM + RW control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514600" y="321868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E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object[] Data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BAE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 Read(index)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BAE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Write(index, data)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" y="3566160"/>
            <a:ext cx="457200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566160"/>
            <a:ext cx="54864" cy="60350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624" y="359359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MaskRegister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20624" y="382219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E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SpatialMemory.Core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514600" y="360273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LSBシフトマスク管理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LSB-shift mask manager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514600" y="391363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E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ulong Mask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BAE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ShiftLsb()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BAE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Reset()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0040" y="4261104"/>
            <a:ext cx="457200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" y="4261104"/>
            <a:ext cx="54864" cy="603504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0624" y="428853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SpatialMemory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20624" y="451713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E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SpatialMemory.Core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514600" y="429768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トップレベル統合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 integration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514600" y="460857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E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Search(addr)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BAE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Write(addr, data)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BAE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NotFind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120640" y="1078992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VS2022 ソリューション構成 / VS2022 Solution Structure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120640" y="1481328"/>
            <a:ext cx="3703320" cy="402336"/>
          </a:xfrm>
          <a:prstGeom prst="rect">
            <a:avLst/>
          </a:prstGeom>
          <a:solidFill>
            <a:srgbClr val="0D1B4B">
              <a:alpha val="90000"/>
            </a:srgbClr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93792" y="149961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SpatialMemory.sln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193792" y="1709928"/>
            <a:ext cx="3566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ソリューション / Solution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120640" y="1938528"/>
            <a:ext cx="3703320" cy="402336"/>
          </a:xfrm>
          <a:prstGeom prst="rect">
            <a:avLst/>
          </a:prstGeom>
          <a:solidFill>
            <a:srgbClr val="0A7EA4">
              <a:alpha val="90000"/>
            </a:srgbClr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93792" y="195681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SpatialMemory.Core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193792" y="2167128"/>
            <a:ext cx="3566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Standard 2.0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257800" y="2340864"/>
            <a:ext cx="3566160" cy="274320"/>
          </a:xfrm>
          <a:prstGeom prst="rect">
            <a:avLst/>
          </a:prstGeom>
          <a:solidFill>
            <a:srgbClr val="0A7EA4">
              <a:alpha val="10000"/>
            </a:srgbClr>
          </a:solidFill>
          <a:ln w="6350">
            <a:solidFill>
              <a:srgbClr val="D0DF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57800" y="23408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CamCell.cs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257800" y="2615184"/>
            <a:ext cx="3566160" cy="274320"/>
          </a:xfrm>
          <a:prstGeom prst="rect">
            <a:avLst/>
          </a:prstGeom>
          <a:solidFill>
            <a:srgbClr val="0A7EA4">
              <a:alpha val="10000"/>
            </a:srgbClr>
          </a:solidFill>
          <a:ln w="6350">
            <a:solidFill>
              <a:srgbClr val="D0DF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7800" y="26151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CamArray.cs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257800" y="2889504"/>
            <a:ext cx="3566160" cy="274320"/>
          </a:xfrm>
          <a:prstGeom prst="rect">
            <a:avLst/>
          </a:prstGeom>
          <a:solidFill>
            <a:srgbClr val="0A7EA4">
              <a:alpha val="10000"/>
            </a:srgbClr>
          </a:solidFill>
          <a:ln w="6350">
            <a:solidFill>
              <a:srgbClr val="D0DF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57800" y="28895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DataMemory.cs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257800" y="3163824"/>
            <a:ext cx="3566160" cy="274320"/>
          </a:xfrm>
          <a:prstGeom prst="rect">
            <a:avLst/>
          </a:prstGeom>
          <a:solidFill>
            <a:srgbClr val="0A7EA4">
              <a:alpha val="10000"/>
            </a:srgbClr>
          </a:solidFill>
          <a:ln w="6350">
            <a:solidFill>
              <a:srgbClr val="D0DF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257800" y="31638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MaskRegister.cs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257800" y="3438144"/>
            <a:ext cx="3566160" cy="274320"/>
          </a:xfrm>
          <a:prstGeom prst="rect">
            <a:avLst/>
          </a:prstGeom>
          <a:solidFill>
            <a:srgbClr val="0A7EA4">
              <a:alpha val="10000"/>
            </a:srgbClr>
          </a:solidFill>
          <a:ln w="6350">
            <a:solidFill>
              <a:srgbClr val="D0DF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257800" y="34381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SpatialMemory.cs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5120640" y="3767328"/>
            <a:ext cx="3703320" cy="402336"/>
          </a:xfrm>
          <a:prstGeom prst="rect">
            <a:avLst/>
          </a:prstGeom>
          <a:solidFill>
            <a:srgbClr val="7B5EA7">
              <a:alpha val="90000"/>
            </a:srgbClr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193792" y="378561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SpatialMemory.TestApp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193792" y="3995928"/>
            <a:ext cx="3566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Forms (テスト UI)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257800" y="4169664"/>
            <a:ext cx="3566160" cy="274320"/>
          </a:xfrm>
          <a:prstGeom prst="rect">
            <a:avLst/>
          </a:prstGeom>
          <a:solidFill>
            <a:srgbClr val="7B5EA7">
              <a:alpha val="10000"/>
            </a:srgbClr>
          </a:solidFill>
          <a:ln w="6350">
            <a:solidFill>
              <a:srgbClr val="D0DF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257800" y="41696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MainForm.cs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5257800" y="4443984"/>
            <a:ext cx="3566160" cy="274320"/>
          </a:xfrm>
          <a:prstGeom prst="rect">
            <a:avLst/>
          </a:prstGeom>
          <a:solidFill>
            <a:srgbClr val="7B5EA7">
              <a:alpha val="10000"/>
            </a:srgbClr>
          </a:solidFill>
          <a:ln w="6350">
            <a:solidFill>
              <a:srgbClr val="D0DF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257800" y="44439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SearchPanel.cs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5257800" y="4718304"/>
            <a:ext cx="3566160" cy="274320"/>
          </a:xfrm>
          <a:prstGeom prst="rect">
            <a:avLst/>
          </a:prstGeom>
          <a:solidFill>
            <a:srgbClr val="7B5EA7">
              <a:alpha val="10000"/>
            </a:srgbClr>
          </a:solidFill>
          <a:ln w="6350">
            <a:solidFill>
              <a:srgbClr val="D0DF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257800" y="47183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WritePanel.cs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5120640" y="5047488"/>
            <a:ext cx="3703320" cy="402336"/>
          </a:xfrm>
          <a:prstGeom prst="rect">
            <a:avLst/>
          </a:prstGeom>
          <a:solidFill>
            <a:srgbClr val="F0A500">
              <a:alpha val="90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193792" y="506577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SpatialMemory.Tests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5193792" y="5276088"/>
            <a:ext cx="3566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xUnit テスト / xUnit Tests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5257800" y="5449824"/>
            <a:ext cx="3566160" cy="274320"/>
          </a:xfrm>
          <a:prstGeom prst="rect">
            <a:avLst/>
          </a:prstGeom>
          <a:solidFill>
            <a:srgbClr val="F0A500">
              <a:alpha val="10000"/>
            </a:srgbClr>
          </a:solidFill>
          <a:ln w="6350">
            <a:solidFill>
              <a:srgbClr val="D0DF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257800" y="54498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CamCellTests.cs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5257800" y="5724144"/>
            <a:ext cx="3566160" cy="274320"/>
          </a:xfrm>
          <a:prstGeom prst="rect">
            <a:avLst/>
          </a:prstGeom>
          <a:solidFill>
            <a:srgbClr val="F0A500">
              <a:alpha val="10000"/>
            </a:srgbClr>
          </a:solidFill>
          <a:ln w="6350">
            <a:solidFill>
              <a:srgbClr val="D0DF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257800" y="57241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SearchTests.cs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5257800" y="5998464"/>
            <a:ext cx="3566160" cy="274320"/>
          </a:xfrm>
          <a:prstGeom prst="rect">
            <a:avLst/>
          </a:prstGeom>
          <a:solidFill>
            <a:srgbClr val="F0A500">
              <a:alpha val="10000"/>
            </a:srgbClr>
          </a:solidFill>
          <a:ln w="6350">
            <a:solidFill>
              <a:srgbClr val="D0DF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257800" y="59984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WriteTests.cs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5120640" y="4736592"/>
            <a:ext cx="3703320" cy="274320"/>
          </a:xfrm>
          <a:prstGeom prst="rect">
            <a:avLst/>
          </a:prstGeom>
          <a:solidFill>
            <a:srgbClr val="18A05A">
              <a:alpha val="12000"/>
            </a:srgbClr>
          </a:solidFill>
          <a:ln w="12700">
            <a:solidFill>
              <a:srgbClr val="18A05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120640" y="473659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8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将来：Unity 3D パッケージとして提供予定  /  Future: Unity 3D package planned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063B72"/>
          </a:solidFill>
          <a:ln w="12700">
            <a:solidFill>
              <a:srgbClr val="063B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A7EA4">
              <a:alpha val="20000"/>
            </a:srgbClr>
          </a:solidFill>
          <a:ln w="12700">
            <a:solidFill>
              <a:srgbClr val="0A7EA4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  /  Summary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024128"/>
            <a:ext cx="3657600" cy="0"/>
          </a:xfrm>
          <a:prstGeom prst="line">
            <a:avLst/>
          </a:prstGeom>
          <a:noFill/>
          <a:ln w="19050">
            <a:solidFill>
              <a:srgbClr val="38B6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70432"/>
            <a:ext cx="7863840" cy="566928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170432"/>
            <a:ext cx="54864" cy="56692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207008"/>
            <a:ext cx="7662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ビット並列比較 → 1クロック検索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68096" y="1481328"/>
            <a:ext cx="7662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Bit-parallel comparison → 1-cycle search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1828800"/>
            <a:ext cx="7863840" cy="566928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1828800"/>
            <a:ext cx="54864" cy="56692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1865376"/>
            <a:ext cx="7662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LSBシフトマスク → 段階的近傍検索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8096" y="2139696"/>
            <a:ext cx="7662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LSB shift mask → incremental neighbor search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2487168"/>
            <a:ext cx="7863840" cy="566928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2487168"/>
            <a:ext cx="54864" cy="56692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2523744"/>
            <a:ext cx="7662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AND条件 → 多次元連想検索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68096" y="2798064"/>
            <a:ext cx="7662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condition → multi-dimensional associative search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3145536"/>
            <a:ext cx="7863840" cy="566928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E050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145536"/>
            <a:ext cx="54864" cy="566928"/>
          </a:xfrm>
          <a:prstGeom prst="rect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" y="3182112"/>
            <a:ext cx="7662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直列・並列拡張 → スケーラブル設計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68096" y="3456432"/>
            <a:ext cx="7662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Serial/parallel expansion → scalable design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3803904"/>
            <a:ext cx="7863840" cy="566928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18A05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3803904"/>
            <a:ext cx="54864" cy="566928"/>
          </a:xfrm>
          <a:prstGeom prst="rect">
            <a:avLst/>
          </a:prstGeom>
          <a:solidFill>
            <a:srgbClr val="18A05A"/>
          </a:solidFill>
          <a:ln w="12700">
            <a:solidFill>
              <a:srgbClr val="18A0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8096" y="3840480"/>
            <a:ext cx="7662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→ FPGA → ASIC の段階的実装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68096" y="4114800"/>
            <a:ext cx="7662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→ FPGA → ASIC incremental implementation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0080" y="4443984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詳細はアーキテクチャ仕様書・RTLコード・C#実装と合わせてご参照ください。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refer to the architecture spec, RTL code, and C# implementation for full details.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空間メモリー 詳細技術設計 / Spatial Memory Technical Design</dc:title>
  <dc:subject>PptxGenJS Presentation</dc:subject>
  <dc:creator>PptxGenJS</dc:creator>
  <cp:lastModifiedBy>PptxGenJS</cp:lastModifiedBy>
  <cp:revision>1</cp:revision>
  <dcterms:created xsi:type="dcterms:W3CDTF">2026-04-27T19:19:06Z</dcterms:created>
  <dcterms:modified xsi:type="dcterms:W3CDTF">2026-04-27T19:19:06Z</dcterms:modified>
</cp:coreProperties>
</file>