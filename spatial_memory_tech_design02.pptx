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8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468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7EA4">
              <a:alpha val="20000"/>
            </a:srgbClr>
          </a:solidFill>
          <a:ln w="12700">
            <a:solidFill>
              <a:srgbClr val="0A7EA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空間メモリー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Memory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4114800" cy="0"/>
          </a:xfrm>
          <a:prstGeom prst="line">
            <a:avLst/>
          </a:prstGeom>
          <a:noFill/>
          <a:ln w="19050">
            <a:solidFill>
              <a:srgbClr val="38B6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詳細技術設計書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Technical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対象読者 / Audience: </a:t>
            </a: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一般技術者 / General Engineers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言語 / Language: </a:t>
            </a: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 / English 併記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社内技術資料  /  Internal Technical Document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4048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アジェンダ  /  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本資料の構成 / Document Structure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640080" cy="10058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005840" y="1188720"/>
            <a:ext cx="3840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005840" y="1188720"/>
            <a:ext cx="502920" cy="7315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005840" y="11887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12344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概要とコンセプト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15727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Concept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1188720"/>
            <a:ext cx="3840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120640" y="1188720"/>
            <a:ext cx="502920" cy="7315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120640" y="11887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12344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アドレスメモリー設計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15000" y="15727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Memory Design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2103120"/>
            <a:ext cx="3840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005840" y="2103120"/>
            <a:ext cx="502920" cy="7315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1005840" y="21031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21488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ANDマッチング機構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24871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Matching Mechanism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2103120"/>
            <a:ext cx="3840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5120640" y="2103120"/>
            <a:ext cx="502920" cy="7315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120640" y="21031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0" y="21488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データメモリー設計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15000" y="24871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Memory Design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5840" y="3017520"/>
            <a:ext cx="3840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1005840" y="3017520"/>
            <a:ext cx="502920" cy="7315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1005840" y="30175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00200" y="30632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LSBマスク近傍検索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600200" y="34015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Mask Neighbor Search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3017520"/>
            <a:ext cx="3840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5120640" y="3017520"/>
            <a:ext cx="502920" cy="7315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5120640" y="30175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15000" y="30632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拡張構成（並列・直列）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15000" y="34015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Configuration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05840" y="3931920"/>
            <a:ext cx="3840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1005840" y="3931920"/>
            <a:ext cx="502920" cy="7315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1005840" y="39319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600200" y="39776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ASIC実装方針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600200" y="43159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 Implementation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0640" y="3931920"/>
            <a:ext cx="38404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5120640" y="3931920"/>
            <a:ext cx="502920" cy="7315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5120640" y="39319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715000" y="39776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C#シミュレーション設計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715000" y="43159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Simulation Design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4048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01｜概要とコンセプト  /  Overview &amp; Concept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空間メモリーとは何か / What is Spatial Memory?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640080" cy="10058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従来メモリーとの違い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from Conventional Memory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64208"/>
          <a:ext cx="502920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比較項目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従来 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空間メモリー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検索方式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アドレス指定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(Address-indexed)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内容一致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(Content-matched)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近傍検索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(Not possible)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LSBマスクで可能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(Via LSB mask)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多次元検索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(Not possible)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AND並列で可能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(Parallel AND)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書込み管理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手動アドレス指定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カウンター自動管理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(Auto counter)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577840" y="1143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3つの核心機構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Mechanisms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577840" y="1691640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5577840" y="1691640"/>
            <a:ext cx="73152" cy="9144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5687568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ビット並列比較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Bit-parallel comparison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87568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全ビットを同時に比較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1クロックで判定完了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2743200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2"/>
          <p:cNvSpPr/>
          <p:nvPr/>
        </p:nvSpPr>
        <p:spPr>
          <a:xfrm>
            <a:off x="5577840" y="2743200"/>
            <a:ext cx="73152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5687568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LSBマスク近傍検索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mask neighbor search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87568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下位ビットを0にして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検索範囲を段階的に拡大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77840" y="3794760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6"/>
          <p:cNvSpPr/>
          <p:nvPr/>
        </p:nvSpPr>
        <p:spPr>
          <a:xfrm>
            <a:off x="5577840" y="3794760"/>
            <a:ext cx="73152" cy="9144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5687568" y="3840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AND条件マッチング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AND-condition matching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87568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複数次元すべてが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マッチした時のみ出力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4048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02｜アドレスメモリー設計  /  Address Memory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CAMセルの構成とビット比較器 / CAM Cell Structure &amp; Bit Comparator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640080" cy="10058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CAMセル 1ビット分の論理構成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CAM Cell Logic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4846320" cy="621792"/>
          </a:xfrm>
          <a:prstGeom prst="rect">
            <a:avLst/>
          </a:prstGeom>
          <a:solidFill>
            <a:srgbClr val="0D1B4B">
              <a:alpha val="8000"/>
            </a:srgbClr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658368" cy="621792"/>
          </a:xfrm>
          <a:prstGeom prst="rect">
            <a:avLst/>
          </a:prstGeom>
          <a:solidFill>
            <a:srgbClr val="0A7EA4">
              <a:alpha val="80000"/>
            </a:srgbClr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20040" y="169164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XNOR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76479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match_bit = ~(stored_bit ^ input_bit)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423160"/>
            <a:ext cx="4846320" cy="621792"/>
          </a:xfrm>
          <a:prstGeom prst="rect">
            <a:avLst/>
          </a:prstGeom>
          <a:solidFill>
            <a:srgbClr val="0D1B4B">
              <a:alpha val="8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20040" y="2423160"/>
            <a:ext cx="658368" cy="621792"/>
          </a:xfrm>
          <a:prstGeom prst="rect">
            <a:avLst/>
          </a:prstGeom>
          <a:solidFill>
            <a:srgbClr val="F0A500">
              <a:alpha val="80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20040" y="242316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49631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masked     = match_bit | ~mask_bit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4846320" cy="621792"/>
          </a:xfrm>
          <a:prstGeom prst="rect">
            <a:avLst/>
          </a:prstGeom>
          <a:solidFill>
            <a:srgbClr val="0D1B4B">
              <a:alpha val="8000"/>
            </a:srgbClr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20040" y="3154680"/>
            <a:ext cx="658368" cy="621792"/>
          </a:xfrm>
          <a:prstGeom prst="rect">
            <a:avLst/>
          </a:prstGeom>
          <a:solidFill>
            <a:srgbClr val="7B5EA7">
              <a:alpha val="80000"/>
            </a:srgbClr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20040" y="315468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22783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row_match  = AND(masked[0..N-1])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794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動作フロー / Operation Flow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0690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入力アドレスと格納アドレスを全ビット同時にXNOR比較
    Input &amp; stored address compared bit-by-bit via XNOR
</a:t>
            </a: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マスクレジスタで指定ビットを無効化（1=有効,0=無視）
    Mask register invalidates specified bits (1=active, 0=ignore)
</a:t>
            </a:r>
            <a:r>
              <a:rPr lang="en-US" sz="105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全有効ビットのANDを取りrow_matchを生成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AND of all active bits generates row_match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0" y="1143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CAMアレイ構成（N行）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Array (N rows)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0" y="1645920"/>
            <a:ext cx="3383280" cy="3657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48640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入力アドレスバス + マスクレジスタ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Address Bus + Mask Register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78040" y="2011680"/>
            <a:ext cx="0" cy="365760"/>
          </a:xfrm>
          <a:prstGeom prst="line">
            <a:avLst/>
          </a:prstGeom>
          <a:noFill/>
          <a:ln w="12700">
            <a:solidFill>
              <a:srgbClr val="38B6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7178040" y="2377440"/>
            <a:ext cx="502920" cy="0"/>
          </a:xfrm>
          <a:prstGeom prst="line">
            <a:avLst/>
          </a:prstGeom>
          <a:noFill/>
          <a:ln w="12700">
            <a:solidFill>
              <a:srgbClr val="38B6D9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5486400" y="2121408"/>
            <a:ext cx="1627632" cy="411480"/>
          </a:xfrm>
          <a:prstGeom prst="rect">
            <a:avLst/>
          </a:prstGeom>
          <a:solidFill>
            <a:srgbClr val="E8F4FB"/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486400" y="21214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CAMセル×Nbit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0 (Entry #0)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80960" y="2167128"/>
            <a:ext cx="1097280" cy="320040"/>
          </a:xfrm>
          <a:prstGeom prst="rect">
            <a:avLst/>
          </a:prstGeom>
          <a:solidFill>
            <a:srgbClr val="0A7EA4">
              <a:alpha val="20000"/>
            </a:srgbClr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7680960" y="21671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match_bit[0]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78040" y="2011680"/>
            <a:ext cx="0" cy="896112"/>
          </a:xfrm>
          <a:prstGeom prst="line">
            <a:avLst/>
          </a:prstGeom>
          <a:noFill/>
          <a:ln w="12700">
            <a:solidFill>
              <a:srgbClr val="38B6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7178040" y="2907792"/>
            <a:ext cx="502920" cy="0"/>
          </a:xfrm>
          <a:prstGeom prst="line">
            <a:avLst/>
          </a:prstGeom>
          <a:noFill/>
          <a:ln w="12700">
            <a:solidFill>
              <a:srgbClr val="38B6D9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5486400" y="2651760"/>
            <a:ext cx="1627632" cy="411480"/>
          </a:xfrm>
          <a:prstGeom prst="rect">
            <a:avLst/>
          </a:prstGeom>
          <a:solidFill>
            <a:srgbClr val="E8F4FB"/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5486400" y="26517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CAMセル×Nbit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(Entry #1)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80960" y="2697480"/>
            <a:ext cx="1097280" cy="320040"/>
          </a:xfrm>
          <a:prstGeom prst="rect">
            <a:avLst/>
          </a:prstGeom>
          <a:solidFill>
            <a:srgbClr val="0A7EA4">
              <a:alpha val="20000"/>
            </a:srgbClr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7680960" y="2697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match_bit[1]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78040" y="2011680"/>
            <a:ext cx="0" cy="1426464"/>
          </a:xfrm>
          <a:prstGeom prst="line">
            <a:avLst/>
          </a:prstGeom>
          <a:noFill/>
          <a:ln w="12700">
            <a:solidFill>
              <a:srgbClr val="38B6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7178040" y="3438144"/>
            <a:ext cx="502920" cy="0"/>
          </a:xfrm>
          <a:prstGeom prst="line">
            <a:avLst/>
          </a:prstGeom>
          <a:noFill/>
          <a:ln w="12700">
            <a:solidFill>
              <a:srgbClr val="38B6D9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5486400" y="3182112"/>
            <a:ext cx="1627632" cy="411480"/>
          </a:xfrm>
          <a:prstGeom prst="rect">
            <a:avLst/>
          </a:prstGeom>
          <a:solidFill>
            <a:srgbClr val="E8F4FB"/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5486400" y="318211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CAMセル×Nbit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 (Entry #2)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680960" y="3227832"/>
            <a:ext cx="1097280" cy="320040"/>
          </a:xfrm>
          <a:prstGeom prst="rect">
            <a:avLst/>
          </a:prstGeom>
          <a:solidFill>
            <a:srgbClr val="0A7EA4">
              <a:alpha val="20000"/>
            </a:srgbClr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7680960" y="32278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match_bit[2]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26480" y="37124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486400" y="4041648"/>
            <a:ext cx="3383280" cy="685800"/>
          </a:xfrm>
          <a:prstGeom prst="rect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5486400" y="40416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書き込みカウンター WR_PTR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Pointer — increments on each new entry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4048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03｜AND マッチング機構  /  AND Matching Mechanism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並列アドレスメモリーの全一致条件 / All-match condition across parallel memories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640080" cy="10058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並列接続時の信号フロー / Signal Flow (Parallel Connection)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8503920" cy="402336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入力アドレス（N bit）+ マスクレジスタ  /  Input Address (N-bit) + Mask Register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08760" y="1911096"/>
            <a:ext cx="0" cy="237744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502920" y="2148840"/>
            <a:ext cx="2057400" cy="1005840"/>
          </a:xfrm>
          <a:prstGeom prst="rect">
            <a:avLst/>
          </a:prstGeom>
          <a:solidFill>
            <a:srgbClr val="0A7EA4">
              <a:alpha val="12000"/>
            </a:srgbClr>
          </a:solidFill>
          <a:ln w="1905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1762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CAMアレイ #1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（次元1 / Dim-1）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67004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例：色空間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space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508760" y="3154680"/>
            <a:ext cx="0" cy="27432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777240" y="3429000"/>
            <a:ext cx="1463040" cy="329184"/>
          </a:xfrm>
          <a:prstGeom prst="rect">
            <a:avLst/>
          </a:prstGeom>
          <a:solidFill>
            <a:srgbClr val="0A7EA4">
              <a:alpha val="20000"/>
            </a:srgbClr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77240" y="34290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7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match_flag[0]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508760" y="3758184"/>
            <a:ext cx="0" cy="201168"/>
          </a:xfrm>
          <a:prstGeom prst="line">
            <a:avLst/>
          </a:prstGeom>
          <a:noFill/>
          <a:ln w="1524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4343400" y="1911096"/>
            <a:ext cx="0" cy="237744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337560" y="2148840"/>
            <a:ext cx="2057400" cy="1005840"/>
          </a:xfrm>
          <a:prstGeom prst="rect">
            <a:avLst/>
          </a:prstGeom>
          <a:solidFill>
            <a:srgbClr val="7B5EA7">
              <a:alpha val="12000"/>
            </a:srgbClr>
          </a:solidFill>
          <a:ln w="190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337560" y="21762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CAMアレイ #2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（次元2 / Dim-2）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267004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例：形状特徴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feature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43400" y="3154680"/>
            <a:ext cx="0" cy="27432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3611880" y="3429000"/>
            <a:ext cx="1463040" cy="329184"/>
          </a:xfrm>
          <a:prstGeom prst="rect">
            <a:avLst/>
          </a:prstGeom>
          <a:solidFill>
            <a:srgbClr val="7B5EA7">
              <a:alpha val="20000"/>
            </a:srgbClr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3611880" y="34290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B5E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match_flag[1]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43400" y="3758184"/>
            <a:ext cx="0" cy="201168"/>
          </a:xfrm>
          <a:prstGeom prst="line">
            <a:avLst/>
          </a:prstGeom>
          <a:noFill/>
          <a:ln w="1524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7178040" y="1911096"/>
            <a:ext cx="0" cy="237744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6172200" y="2148840"/>
            <a:ext cx="2057400" cy="1005840"/>
          </a:xfrm>
          <a:prstGeom prst="rect">
            <a:avLst/>
          </a:prstGeom>
          <a:solidFill>
            <a:srgbClr val="F0A500">
              <a:alpha val="12000"/>
            </a:srgbClr>
          </a:solidFill>
          <a:ln w="1905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172200" y="21762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CAMアレイ #3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（次元3 / Dim-3）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267004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例：位置情報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78040" y="3154680"/>
            <a:ext cx="0" cy="27432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6446520" y="3429000"/>
            <a:ext cx="1463040" cy="329184"/>
          </a:xfrm>
          <a:prstGeom prst="rect">
            <a:avLst/>
          </a:prstGeom>
          <a:solidFill>
            <a:srgbClr val="F0A500">
              <a:alpha val="20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446520" y="34290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match_flag[2]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78040" y="3758184"/>
            <a:ext cx="0" cy="201168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1508760" y="3959352"/>
            <a:ext cx="6035040" cy="0"/>
          </a:xfrm>
          <a:prstGeom prst="line">
            <a:avLst/>
          </a:prstGeom>
          <a:noFill/>
          <a:ln w="19050">
            <a:solidFill>
              <a:srgbClr val="38B6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4526280" y="3959352"/>
            <a:ext cx="0" cy="237744"/>
          </a:xfrm>
          <a:prstGeom prst="line">
            <a:avLst/>
          </a:prstGeom>
          <a:noFill/>
          <a:ln w="19050">
            <a:solidFill>
              <a:srgbClr val="38B6D9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035040" y="35478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出力条件 / Output Condition</a:t>
            </a:r>
            <a:endParaRPr lang="en-US" sz="11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3895344"/>
          <a:ext cx="283464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5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8A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データ出力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NotFind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NotFind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3200400" y="4197096"/>
            <a:ext cx="2651760" cy="530352"/>
          </a:xfrm>
          <a:prstGeom prst="rect">
            <a:avLst/>
          </a:prstGeom>
          <a:solidFill>
            <a:srgbClr val="E05050">
              <a:alpha val="15000"/>
            </a:srgbClr>
          </a:solidFill>
          <a:ln w="1905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6"/>
          <p:cNvSpPr/>
          <p:nvPr/>
        </p:nvSpPr>
        <p:spPr>
          <a:xfrm>
            <a:off x="3200400" y="419709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リダクション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match_flag[0] &amp; match_flag[1] &amp; match_flag[2]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4048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04｜データメモリー設計  /  Data Memory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読み出し・書き込みルール / Read &amp; Write Rules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640080" cy="10058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697480" cy="3794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2697480" cy="5943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HIT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4081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読み出し（一致）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1737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CAMがrow_match &amp; HIT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20208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hit_indexをRAMアドレスへ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" y="23042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RAM[hit_index] を出力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9768" y="25877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データバスに有効データ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CAM asserts row_match &amp; HIT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" y="34381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Use hit_index as RAM address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9768" y="37216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Output RAM[hit_index]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9768" y="40050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Valid data on output bus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097280"/>
            <a:ext cx="2697480" cy="3794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200400" y="1097280"/>
            <a:ext cx="2697480" cy="594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3200400" y="11155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+ HIT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14081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書き込み（上書き）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1737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CAMがrow_match &amp; HIT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0128" y="20208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既存エントリを特定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10128" y="23042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RAM[hit_index] ← 新データ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10128" y="25877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WR_PTRは変化しない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10128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CAM asserts row_match &amp; HIT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10128" y="34381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Identify existing entry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10128" y="37216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RAM[hit_index] ← new data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10128" y="40050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WR_PTR unchanged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1097280"/>
            <a:ext cx="2697480" cy="3794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6080760" y="1097280"/>
            <a:ext cx="2697480" cy="5943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080760" y="11155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+ NotFind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80760" y="14081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書き込み（新規登録）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90488" y="1737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CAMがNotFindを出力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90488" y="20208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CAM[WR_PTR] ← 入力Addr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90488" y="23042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RAM[WR_PTR] ← 入力Data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90488" y="25877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WR_PTR ← WR_PTR + 1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90488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CAM asserts NotFind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90488" y="34381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CAM[WR_PTR] ← Input Addr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90488" y="37216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RAM[WR_PTR] ← Input Data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90488" y="40050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WR_PTR ← WR_PTR + 1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4773168"/>
            <a:ext cx="8503920" cy="201168"/>
          </a:xfrm>
          <a:prstGeom prst="rect">
            <a:avLst/>
          </a:prstGeom>
          <a:solidFill>
            <a:srgbClr val="0D1B4B">
              <a:alpha val="8000"/>
            </a:srgbClr>
          </a:solidFill>
          <a:ln w="12700">
            <a:solidFill>
              <a:srgbClr val="0D1B4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320040" y="477316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WR_PTRがメモリー末尾に達した場合のオーバーフロー処理（ラップアラウンドまたはフルフラグ）は実装で別途定義すること  /  Overflow handling (wrap-around or FULL flag) must be defined separately in implementation.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4048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05｜LSBマスク近傍検索  /  LSB Mask Neighbor Search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段階的な検索範囲の拡大 / Incremental search radius expansion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640080" cy="10058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検索アルゴリズム / Search Algorithm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43891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713232" cy="530352"/>
          </a:xfrm>
          <a:prstGeom prst="rect">
            <a:avLst/>
          </a:prstGeom>
          <a:solidFill>
            <a:srgbClr val="0A7EA4">
              <a:alpha val="85000"/>
            </a:srgbClr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20040" y="1508760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545336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= 0xFF…FF（全ビット有効）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= 0xFF…FF (all bits active)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" y="2039112"/>
            <a:ext cx="0" cy="91440"/>
          </a:xfrm>
          <a:prstGeom prst="line">
            <a:avLst/>
          </a:prstGeom>
          <a:noFill/>
          <a:ln w="15240">
            <a:solidFill>
              <a:srgbClr val="0A7EA4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20040" y="2130552"/>
            <a:ext cx="43891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20040" y="2130552"/>
            <a:ext cx="713232" cy="530352"/>
          </a:xfrm>
          <a:prstGeom prst="rect">
            <a:avLst/>
          </a:prstGeom>
          <a:solidFill>
            <a:srgbClr val="0A7EA4">
              <a:alpha val="85000"/>
            </a:srgbClr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20040" y="2130552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167128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CAMを検索　HIT → データ返却・終了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CAM.  HIT → return data, done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" y="2660904"/>
            <a:ext cx="0" cy="91440"/>
          </a:xfrm>
          <a:prstGeom prst="line">
            <a:avLst/>
          </a:prstGeom>
          <a:noFill/>
          <a:ln w="15240">
            <a:solidFill>
              <a:srgbClr val="0A7EA4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20040" y="2752344"/>
            <a:ext cx="43891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20040" y="2752344"/>
            <a:ext cx="713232" cy="530352"/>
          </a:xfrm>
          <a:prstGeom prst="rect">
            <a:avLst/>
          </a:prstGeom>
          <a:solidFill>
            <a:srgbClr val="F0A500">
              <a:alpha val="85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20040" y="2752344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78892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NotFind → mask LSBを0シフト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NotFind → shift LSB of mask to 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" y="3282696"/>
            <a:ext cx="0" cy="9144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320040" y="3374136"/>
            <a:ext cx="43891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320040" y="3374136"/>
            <a:ext cx="713232" cy="530352"/>
          </a:xfrm>
          <a:prstGeom prst="rect">
            <a:avLst/>
          </a:prstGeom>
          <a:solidFill>
            <a:srgbClr val="F0A500">
              <a:alpha val="85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20040" y="3374136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3410712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に戻り再検索（範囲×2）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Step 2, re-search (range ×2)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" y="3904488"/>
            <a:ext cx="0" cy="9144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320040" y="3995928"/>
            <a:ext cx="43891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320040" y="3995928"/>
            <a:ext cx="713232" cy="530352"/>
          </a:xfrm>
          <a:prstGeom prst="rect">
            <a:avLst/>
          </a:prstGeom>
          <a:solidFill>
            <a:srgbClr val="E05050">
              <a:alpha val="85000"/>
            </a:srgbClr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20040" y="39959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4032504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許容ビット差の上限に達したら終了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max allowed bit-diff reached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109728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マスクシフトのビット表現 / Mask Bit Representation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0" y="1508760"/>
            <a:ext cx="3794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5074920" y="1545336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完全一致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91072" y="1618488"/>
            <a:ext cx="1536192" cy="329184"/>
          </a:xfrm>
          <a:prstGeom prst="rect">
            <a:avLst/>
          </a:prstGeom>
          <a:solidFill>
            <a:srgbClr val="0A7EA4">
              <a:alpha val="12000"/>
            </a:srgbClr>
          </a:solidFill>
          <a:ln w="12700">
            <a:solidFill>
              <a:srgbClr val="0A7EA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291072" y="161848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7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1111  1111  1111  1111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863840" y="160020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検索範囲：1点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 point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0" y="2313432"/>
            <a:ext cx="3794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5074920" y="2350008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近傍 ×2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×2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91072" y="2423160"/>
            <a:ext cx="1536192" cy="329184"/>
          </a:xfrm>
          <a:prstGeom prst="rect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6291072" y="242316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1111  1111  1111  1110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863840" y="240487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1bit 無視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LSB 1-bit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0" y="3118104"/>
            <a:ext cx="3794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5074920" y="315468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近傍 ×4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×4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91072" y="3227832"/>
            <a:ext cx="1536192" cy="329184"/>
          </a:xfrm>
          <a:prstGeom prst="rect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6291072" y="322783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1111  1111  1111  1100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863840" y="3209544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2bit 無視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LSB 2-bits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029200" y="3922776"/>
            <a:ext cx="3794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5074920" y="395935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近傍 ×256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×256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91072" y="4032504"/>
            <a:ext cx="1536192" cy="329184"/>
          </a:xfrm>
          <a:prstGeom prst="rect">
            <a:avLst/>
          </a:prstGeom>
          <a:solidFill>
            <a:srgbClr val="E05050">
              <a:alpha val="12000"/>
            </a:srgbClr>
          </a:solidFill>
          <a:ln w="12700">
            <a:solidFill>
              <a:srgbClr val="E050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291072" y="403250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1111  1111  1111  000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863840" y="401421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8bit 無視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LSB 8-bits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4048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06｜拡張構成（並列・直列）  /  Scalable Configuration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アドレス空間・次元・データ幅の拡張 / Address space, dimension, and data width expansion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640080" cy="10058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並列接続 → 次元拡張 / Parallel → Dimension Expansion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8503920" cy="310896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20040" y="144475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入力アドレス（各次元）  /  Input Address (per dimension)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08760" y="1755648"/>
            <a:ext cx="0" cy="201168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502920" y="1956816"/>
            <a:ext cx="2057400" cy="640080"/>
          </a:xfrm>
          <a:prstGeom prst="rect">
            <a:avLst/>
          </a:prstGeom>
          <a:solidFill>
            <a:srgbClr val="0A7EA4">
              <a:alpha val="15000"/>
            </a:srgbClr>
          </a:solidFill>
          <a:ln w="1905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02920" y="195681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#1（Dim 1）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08760" y="2596896"/>
            <a:ext cx="0" cy="182880"/>
          </a:xfrm>
          <a:prstGeom prst="line">
            <a:avLst/>
          </a:prstGeom>
          <a:noFill/>
          <a:ln w="1524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343400" y="1755648"/>
            <a:ext cx="0" cy="201168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337560" y="1956816"/>
            <a:ext cx="2057400" cy="640080"/>
          </a:xfrm>
          <a:prstGeom prst="rect">
            <a:avLst/>
          </a:prstGeom>
          <a:solidFill>
            <a:srgbClr val="7B5EA7">
              <a:alpha val="15000"/>
            </a:srgbClr>
          </a:solidFill>
          <a:ln w="190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337560" y="195681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#2（Dim 2）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596896"/>
            <a:ext cx="0" cy="182880"/>
          </a:xfrm>
          <a:prstGeom prst="line">
            <a:avLst/>
          </a:prstGeom>
          <a:noFill/>
          <a:ln w="1524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7178040" y="1755648"/>
            <a:ext cx="0" cy="201168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172200" y="1956816"/>
            <a:ext cx="2057400" cy="640080"/>
          </a:xfrm>
          <a:prstGeom prst="rect">
            <a:avLst/>
          </a:prstGeom>
          <a:solidFill>
            <a:srgbClr val="F0A500">
              <a:alpha val="15000"/>
            </a:srgbClr>
          </a:solidFill>
          <a:ln w="1905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172200" y="195681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#3（Dim 3）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78040" y="2596896"/>
            <a:ext cx="0" cy="18288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1508760" y="2779776"/>
            <a:ext cx="6035040" cy="0"/>
          </a:xfrm>
          <a:prstGeom prst="line">
            <a:avLst/>
          </a:prstGeom>
          <a:noFill/>
          <a:ln w="19050">
            <a:solidFill>
              <a:srgbClr val="38B6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4526280" y="2779776"/>
            <a:ext cx="0" cy="182880"/>
          </a:xfrm>
          <a:prstGeom prst="line">
            <a:avLst/>
          </a:prstGeom>
          <a:noFill/>
          <a:ln w="19050">
            <a:solidFill>
              <a:srgbClr val="38B6D9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3383280" y="2962656"/>
            <a:ext cx="2286000" cy="384048"/>
          </a:xfrm>
          <a:prstGeom prst="rect">
            <a:avLst/>
          </a:prstGeom>
          <a:solidFill>
            <a:srgbClr val="E05050">
              <a:alpha val="15000"/>
            </a:srgbClr>
          </a:solidFill>
          <a:ln w="1905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383280" y="29626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ゲート  /  AND Gate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493008"/>
            <a:ext cx="8503920" cy="0"/>
          </a:xfrm>
          <a:prstGeom prst="line">
            <a:avLst/>
          </a:prstGeom>
          <a:noFill/>
          <a:ln w="10160">
            <a:solidFill>
              <a:srgbClr val="C8D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320040" y="354787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直列接続 → データ幅拡張 / Serial → Data Width Expansion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2468880" cy="822960"/>
          </a:xfrm>
          <a:prstGeom prst="rect">
            <a:avLst/>
          </a:prstGeom>
          <a:solidFill>
            <a:srgbClr val="0A7EA4">
              <a:alpha val="12000"/>
            </a:srgbClr>
          </a:solidFill>
          <a:ln w="1524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50292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Block #1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RD/WR ポート付き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71800" y="4343400"/>
            <a:ext cx="274320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dash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3246120" y="3931920"/>
            <a:ext cx="2468880" cy="822960"/>
          </a:xfrm>
          <a:prstGeom prst="rect">
            <a:avLst/>
          </a:prstGeom>
          <a:solidFill>
            <a:srgbClr val="0A7EA4">
              <a:alpha val="12000"/>
            </a:srgbClr>
          </a:solidFill>
          <a:ln w="1524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324612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Block #2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RD/WR ポート付き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15000" y="4343400"/>
            <a:ext cx="274320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dash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5989320" y="3931920"/>
            <a:ext cx="2468880" cy="822960"/>
          </a:xfrm>
          <a:prstGeom prst="rect">
            <a:avLst/>
          </a:prstGeom>
          <a:solidFill>
            <a:srgbClr val="0A7EA4">
              <a:alpha val="12000"/>
            </a:srgbClr>
          </a:solidFill>
          <a:ln w="1524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598932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Block #3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RD/WR ポート付き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各ブロックの出力を連結してデータバス幅を拡張  /  Concatenate outputs to expand data bus width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4048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07｜ASIC 実装方針  /  ASIC Implementation Policy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設計フロー・技術選択 / Design Flow &amp; Technology Choices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640080" cy="10058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設計構成要素 / RTL Design Components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4114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0040" y="1481328"/>
            <a:ext cx="54864" cy="42062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38912" y="1499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cam_cell.v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6824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XNOR + ANDゲート 1ビット分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XNOR+AND comparator cell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975104"/>
            <a:ext cx="4114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20040" y="1975104"/>
            <a:ext cx="54864" cy="42062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38912" y="1993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cam_array.v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1762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N行×Mビットのアレイ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N-row × M-bit CAM array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468880"/>
            <a:ext cx="4114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20040" y="2468880"/>
            <a:ext cx="54864" cy="42062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38912" y="24871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mask_reg.v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" y="26700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LSBシフトマスクレジスタ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LSB-shift mask register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62656"/>
            <a:ext cx="4114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20040" y="2962656"/>
            <a:ext cx="54864" cy="420624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38912" y="29809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and_tree.v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" y="31638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ANDリダクションツリー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reduction tree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456432"/>
            <a:ext cx="4114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320040" y="3456432"/>
            <a:ext cx="54864" cy="42062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38912" y="34747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5E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data_sram.v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" y="36576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SRAMマクロ ラッパー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macro wrapper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950208"/>
            <a:ext cx="4114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320040" y="3950208"/>
            <a:ext cx="54864" cy="42062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438912" y="39684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wr_counter.v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" y="41513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書き込みポインター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pointer counter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443984"/>
            <a:ext cx="4114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320040" y="4443984"/>
            <a:ext cx="54864" cy="42062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438912" y="44622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top_spatial.v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8912" y="46451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トップモジュール統合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integration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63440" y="107899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実装フェーズ / Implementation Phases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1481328"/>
            <a:ext cx="41605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4663440" y="1481328"/>
            <a:ext cx="640080" cy="58521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4663440" y="1481328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58384" y="151790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RTL記述 + シミュレーション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RTL + Simulation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498080" y="1591056"/>
            <a:ext cx="1261872" cy="365760"/>
          </a:xfrm>
          <a:prstGeom prst="rect">
            <a:avLst/>
          </a:prstGeom>
          <a:solidFill>
            <a:srgbClr val="0A7EA4">
              <a:alpha val="12000"/>
            </a:srgbClr>
          </a:solidFill>
          <a:ln w="12700">
            <a:solidFill>
              <a:srgbClr val="0A7EA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7498080" y="1591056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ModelSim / Verilator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2157984"/>
            <a:ext cx="41605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4663440" y="2157984"/>
            <a:ext cx="640080" cy="58521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4663440" y="2157984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Ph.2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58384" y="219456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プロトタイプ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Prototype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498080" y="2267712"/>
            <a:ext cx="1261872" cy="365760"/>
          </a:xfrm>
          <a:prstGeom prst="rect">
            <a:avLst/>
          </a:prstGeom>
          <a:solidFill>
            <a:srgbClr val="7B5EA7">
              <a:alpha val="12000"/>
            </a:srgbClr>
          </a:solidFill>
          <a:ln w="12700">
            <a:solidFill>
              <a:srgbClr val="7B5E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7498080" y="226771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/ Quartus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2834640"/>
            <a:ext cx="41605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4663440" y="2834640"/>
            <a:ext cx="640080" cy="58521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4663440" y="2834640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58384" y="287121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論理合成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Synthesis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498080" y="2944368"/>
            <a:ext cx="1261872" cy="365760"/>
          </a:xfrm>
          <a:prstGeom prst="rect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7498080" y="294436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Synopsys DC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63440" y="3511296"/>
            <a:ext cx="41605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4663440" y="3511296"/>
            <a:ext cx="640080" cy="58521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4663440" y="3511296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Ph.4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358384" y="354787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配置配線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P&amp;R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498080" y="3621024"/>
            <a:ext cx="1261872" cy="365760"/>
          </a:xfrm>
          <a:prstGeom prst="rect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7498080" y="362102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Innovus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663440" y="4187952"/>
            <a:ext cx="41605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F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60"/>
          <p:cNvSpPr/>
          <p:nvPr/>
        </p:nvSpPr>
        <p:spPr>
          <a:xfrm>
            <a:off x="4663440" y="4187952"/>
            <a:ext cx="640080" cy="585216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4663440" y="418795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358384" y="422452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テープアウト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Tape-out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498080" y="4297680"/>
            <a:ext cx="1261872" cy="365760"/>
          </a:xfrm>
          <a:prstGeom prst="rect">
            <a:avLst/>
          </a:prstGeom>
          <a:solidFill>
            <a:srgbClr val="E05050">
              <a:alpha val="12000"/>
            </a:srgbClr>
          </a:solidFill>
          <a:ln w="12700">
            <a:solidFill>
              <a:srgbClr val="E050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7498080" y="429768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 / GF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63B72"/>
          </a:solidFill>
          <a:ln w="12700">
            <a:solidFill>
              <a:srgbClr val="063B7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7EA4">
              <a:alpha val="20000"/>
            </a:srgbClr>
          </a:solidFill>
          <a:ln w="12700">
            <a:solidFill>
              <a:srgbClr val="0A7EA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  / 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024128"/>
            <a:ext cx="3657600" cy="0"/>
          </a:xfrm>
          <a:prstGeom prst="line">
            <a:avLst/>
          </a:prstGeom>
          <a:noFill/>
          <a:ln w="19050">
            <a:solidFill>
              <a:srgbClr val="38B6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40080" y="1170432"/>
            <a:ext cx="786384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40080" y="1170432"/>
            <a:ext cx="54864" cy="5669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68096" y="1207008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ビット並列比較 → 1クロック検索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1481328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Bit-parallel comparison → 1-cycle search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786384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640080" y="1828800"/>
            <a:ext cx="54864" cy="5669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68096" y="1865376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LSBシフトマスク → 段階的近傍検索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2139696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shift mask → incremental neighbor search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487168"/>
            <a:ext cx="786384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2487168"/>
            <a:ext cx="54864" cy="5669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68096" y="2523744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AND条件 → 多次元連想検索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8096" y="2798064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condition → multi-dimensional associative search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145536"/>
            <a:ext cx="786384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40080" y="3145536"/>
            <a:ext cx="54864" cy="566928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68096" y="3182112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直列・並列拡張 → スケーラブル設計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8096" y="3456432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Serial/parallel expansion → scalable design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444398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詳細はアーキテクチャ仕様書・RTLコード・C#実装と合わせてご参照ください。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refer to the architecture spec, RTL code, and C# implementation for full details.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1299</Words>
  <Application>Microsoft Office PowerPoint</Application>
  <PresentationFormat>画面に合わせる (16:9)</PresentationFormat>
  <Paragraphs>294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空間メモリー 詳細技術設計 / Spatial Memory Technical Design</dc:title>
  <dc:subject>PptxGenJS Presentation</dc:subject>
  <dc:creator>PptxGenJS</dc:creator>
  <cp:lastModifiedBy>Keiji Mitsubuchi</cp:lastModifiedBy>
  <cp:revision>2</cp:revision>
  <dcterms:created xsi:type="dcterms:W3CDTF">2026-04-27T19:19:06Z</dcterms:created>
  <dcterms:modified xsi:type="dcterms:W3CDTF">2026-04-27T19:51:23Z</dcterms:modified>
</cp:coreProperties>
</file>